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 id="2147483704" r:id="rId2"/>
  </p:sldMasterIdLst>
  <p:notesMasterIdLst>
    <p:notesMasterId r:id="rId13"/>
  </p:notesMasterIdLst>
  <p:sldIdLst>
    <p:sldId id="256" r:id="rId3"/>
    <p:sldId id="266" r:id="rId4"/>
    <p:sldId id="257" r:id="rId5"/>
    <p:sldId id="260" r:id="rId6"/>
    <p:sldId id="263" r:id="rId7"/>
    <p:sldId id="268" r:id="rId8"/>
    <p:sldId id="352" r:id="rId9"/>
    <p:sldId id="325" r:id="rId10"/>
    <p:sldId id="264" r:id="rId11"/>
    <p:sldId id="262" r:id="rId12"/>
  </p:sldIdLst>
  <p:sldSz cx="9144000" cy="5143500" type="screen16x9"/>
  <p:notesSz cx="6858000" cy="9144000"/>
  <p:embeddedFontLst>
    <p:embeddedFont>
      <p:font typeface="Lato" charset="0"/>
      <p:regular r:id="rId14"/>
      <p:bold r:id="rId15"/>
      <p:italic r:id="rId16"/>
      <p:boldItalic r:id="rId17"/>
    </p:embeddedFont>
    <p:embeddedFont>
      <p:font typeface="Proxima Nova Semibold" charset="0"/>
      <p:regular r:id="rId18"/>
      <p:bold r:id="rId19"/>
      <p:boldItalic r:id="rId20"/>
    </p:embeddedFont>
    <p:embeddedFont>
      <p:font typeface="Crimson Text" charset="0"/>
      <p:regular r:id="rId21"/>
      <p:bold r:id="rId22"/>
      <p:italic r:id="rId23"/>
      <p:boldItalic r:id="rId24"/>
    </p:embeddedFont>
    <p:embeddedFont>
      <p:font typeface="Montserrat" charset="0"/>
      <p:regular r:id="rId25"/>
      <p:bold r:id="rId26"/>
      <p:italic r:id="rId27"/>
      <p:boldItalic r:id="rId28"/>
    </p:embeddedFont>
    <p:embeddedFont>
      <p:font typeface="Proxima Nova" charset="0"/>
      <p:regular r:id="rId29"/>
      <p:bold r:id="rId30"/>
      <p:italic r:id="rId31"/>
      <p:boldItalic r:id="rId32"/>
    </p:embeddedFont>
    <p:embeddedFont>
      <p:font typeface="Vidaloka"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3704">
          <p15:clr>
            <a:srgbClr val="9AA0A6"/>
          </p15:clr>
        </p15:guide>
        <p15:guide id="2" pos="439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31340FC0-F6A3-45C2-9781-E31E16EA066A}">
  <a:tblStyle styleId="{31340FC0-F6A3-45C2-9781-E31E16EA066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72" autoAdjust="0"/>
    <p:restoredTop sz="94660"/>
  </p:normalViewPr>
  <p:slideViewPr>
    <p:cSldViewPr snapToGrid="0">
      <p:cViewPr>
        <p:scale>
          <a:sx n="100" d="100"/>
          <a:sy n="100" d="100"/>
        </p:scale>
        <p:origin x="-1162" y="-235"/>
      </p:cViewPr>
      <p:guideLst>
        <p:guide orient="horz" pos="1620"/>
        <p:guide pos="3704"/>
        <p:guide pos="4392"/>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21" Type="http://schemas.openxmlformats.org/officeDocument/2006/relationships/font" Target="fonts/font8.fntdata"/><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font" Target="fonts/font20.fntdata"/><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1.fntdata"/><Relationship Id="rId32" Type="http://schemas.openxmlformats.org/officeDocument/2006/relationships/font" Target="fonts/font19.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6810240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cf7a3c50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cc7554a049_0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cc7554a049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cc7554a049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cc7554a049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3"/>
        <p:cNvGrpSpPr/>
        <p:nvPr/>
      </p:nvGrpSpPr>
      <p:grpSpPr>
        <a:xfrm>
          <a:off x="0" y="0"/>
          <a:ext cx="0" cy="0"/>
          <a:chOff x="0" y="0"/>
          <a:chExt cx="0" cy="0"/>
        </a:xfrm>
      </p:grpSpPr>
      <p:sp>
        <p:nvSpPr>
          <p:cNvPr id="11194" name="Google Shape;11194;gcc7554a049_0_16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95" name="Google Shape;11195;gcc7554a049_0_16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4"/>
        <p:cNvGrpSpPr/>
        <p:nvPr/>
      </p:nvGrpSpPr>
      <p:grpSpPr>
        <a:xfrm>
          <a:off x="0" y="0"/>
          <a:ext cx="0" cy="0"/>
          <a:chOff x="0" y="0"/>
          <a:chExt cx="0" cy="0"/>
        </a:xfrm>
      </p:grpSpPr>
      <p:sp>
        <p:nvSpPr>
          <p:cNvPr id="1875" name="Google Shape;1875;g1083f33e91c_2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6" name="Google Shape;1876;g1083f33e91c_2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cc7554a049_0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cc7554a049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248300"/>
            <a:ext cx="7064100" cy="20526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00900"/>
            <a:ext cx="7064100" cy="441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714550" y="2366272"/>
            <a:ext cx="3714900" cy="8184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chorCtr="0">
            <a:noAutofit/>
          </a:bodyPr>
          <a:lstStyle>
            <a:lvl1pPr lvl="0"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8" name="Google Shape;18;p3"/>
          <p:cNvSpPr txBox="1">
            <a:spLocks noGrp="1"/>
          </p:cNvSpPr>
          <p:nvPr>
            <p:ph type="subTitle" idx="1"/>
          </p:nvPr>
        </p:nvSpPr>
        <p:spPr>
          <a:xfrm>
            <a:off x="2291400" y="3076675"/>
            <a:ext cx="4561200" cy="39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9" name="Google Shape;19;p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 name="Google Shape;20;p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 name="Google Shape;21;p3"/>
          <p:cNvCxnSpPr/>
          <p:nvPr/>
        </p:nvCxnSpPr>
        <p:spPr>
          <a:xfrm flipH="1">
            <a:off x="794892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 name="Google Shape;22;p3"/>
          <p:cNvCxnSpPr/>
          <p:nvPr/>
        </p:nvCxnSpPr>
        <p:spPr>
          <a:xfrm flipH="1">
            <a:off x="-11287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 name="Google Shape;25;p4"/>
          <p:cNvSpPr txBox="1">
            <a:spLocks noGrp="1"/>
          </p:cNvSpPr>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a:endParaRPr/>
          </a:p>
        </p:txBody>
      </p:sp>
      <p:cxnSp>
        <p:nvCxnSpPr>
          <p:cNvPr id="26" name="Google Shape;26;p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7" name="Google Shape;27;p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 name="Google Shape;28;p4"/>
          <p:cNvCxnSpPr/>
          <p:nvPr/>
        </p:nvCxnSpPr>
        <p:spPr>
          <a:xfrm>
            <a:off x="6884900" y="-113600"/>
            <a:ext cx="2565600" cy="1306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cxnSp>
        <p:nvCxnSpPr>
          <p:cNvPr id="40" name="Google Shape;40;p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 name="Google Shape;41;p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txBox="1">
            <a:spLocks noGrp="1"/>
          </p:cNvSpPr>
          <p:nvPr>
            <p:ph type="subTitle" idx="1"/>
          </p:nvPr>
        </p:nvSpPr>
        <p:spPr>
          <a:xfrm>
            <a:off x="2247500" y="1433050"/>
            <a:ext cx="1838100" cy="35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9pPr>
          </a:lstStyle>
          <a:p>
            <a:endParaRPr/>
          </a:p>
        </p:txBody>
      </p:sp>
      <p:sp>
        <p:nvSpPr>
          <p:cNvPr id="44" name="Google Shape;44;p7"/>
          <p:cNvSpPr txBox="1">
            <a:spLocks noGrp="1"/>
          </p:cNvSpPr>
          <p:nvPr>
            <p:ph type="subTitle" idx="2"/>
          </p:nvPr>
        </p:nvSpPr>
        <p:spPr>
          <a:xfrm>
            <a:off x="2247500" y="1790050"/>
            <a:ext cx="5160300" cy="2754000"/>
          </a:xfrm>
          <a:prstGeom prst="rect">
            <a:avLst/>
          </a:prstGeom>
        </p:spPr>
        <p:txBody>
          <a:bodyPr spcFirstLastPara="1" wrap="square" lIns="91425" tIns="91425" rIns="91425" bIns="91425" anchor="t" anchorCtr="0">
            <a:noAutofit/>
          </a:bodyPr>
          <a:lstStyle>
            <a:lvl1pPr marR="50800" lvl="0" rtl="0">
              <a:lnSpc>
                <a:spcPct val="166000"/>
              </a:lnSpc>
              <a:spcBef>
                <a:spcPts val="0"/>
              </a:spcBef>
              <a:spcAft>
                <a:spcPts val="0"/>
              </a:spcAft>
              <a:buClr>
                <a:schemeClr val="accent1"/>
              </a:buClr>
              <a:buSzPts val="1400"/>
              <a:buChar char="●"/>
              <a:defRPr sz="1400">
                <a:solidFill>
                  <a:srgbClr val="374957"/>
                </a:solidFill>
              </a:defRPr>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45" name="Google Shape;45;p7"/>
          <p:cNvSpPr txBox="1">
            <a:spLocks noGrp="1"/>
          </p:cNvSpPr>
          <p:nvPr>
            <p:ph type="title"/>
          </p:nvPr>
        </p:nvSpPr>
        <p:spPr>
          <a:xfrm>
            <a:off x="713225" y="445025"/>
            <a:ext cx="4297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46" name="Google Shape;46;p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 name="Google Shape;47;p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15" name="Google Shape;115;p15"/>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994850" y="1482825"/>
            <a:ext cx="5154300" cy="129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9000"/>
              <a:buNone/>
              <a:defRPr sz="9000"/>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a:endParaRPr/>
          </a:p>
        </p:txBody>
      </p:sp>
      <p:sp>
        <p:nvSpPr>
          <p:cNvPr id="134" name="Google Shape;134;p18"/>
          <p:cNvSpPr txBox="1">
            <a:spLocks noGrp="1"/>
          </p:cNvSpPr>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cxnSp>
        <p:nvCxnSpPr>
          <p:cNvPr id="135" name="Google Shape;135;p1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6" name="Google Shape;136;p1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7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5" r:id="rId6"/>
    <p:sldLayoutId id="2147483658" r:id="rId7"/>
    <p:sldLayoutId id="2147483661" r:id="rId8"/>
    <p:sldLayoutId id="2147483663" r:id="rId9"/>
    <p:sldLayoutId id="2147483664" r:id="rId10"/>
    <p:sldLayoutId id="2147483696" r:id="rId11"/>
    <p:sldLayoutId id="2147483697" r:id="rId12"/>
    <p:sldLayoutId id="2147483698" r:id="rId13"/>
    <p:sldLayoutId id="2147483699"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68"/>
        <p:cNvGrpSpPr/>
        <p:nvPr/>
      </p:nvGrpSpPr>
      <p:grpSpPr>
        <a:xfrm>
          <a:off x="0" y="0"/>
          <a:ext cx="0" cy="0"/>
          <a:chOff x="0" y="0"/>
          <a:chExt cx="0" cy="0"/>
        </a:xfrm>
      </p:grpSpPr>
      <p:sp>
        <p:nvSpPr>
          <p:cNvPr id="469" name="Google Shape;469;p54"/>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70" name="Google Shape;470;p54"/>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hyperlink" Target="https://www.kaggle.com/datasets/mylesoneill/world-university-rankings"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9"/>
          <p:cNvSpPr txBox="1">
            <a:spLocks noGrp="1"/>
          </p:cNvSpPr>
          <p:nvPr>
            <p:ph type="ctrTitle"/>
          </p:nvPr>
        </p:nvSpPr>
        <p:spPr>
          <a:xfrm>
            <a:off x="1033581" y="1254692"/>
            <a:ext cx="7064100" cy="205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Top University Analysis</a:t>
            </a:r>
            <a:endParaRPr dirty="0"/>
          </a:p>
        </p:txBody>
      </p:sp>
      <p:sp>
        <p:nvSpPr>
          <p:cNvPr id="483" name="Google Shape;483;p59"/>
          <p:cNvSpPr txBox="1">
            <a:spLocks noGrp="1"/>
          </p:cNvSpPr>
          <p:nvPr>
            <p:ph type="subTitle" idx="1"/>
          </p:nvPr>
        </p:nvSpPr>
        <p:spPr>
          <a:xfrm>
            <a:off x="1813675" y="436206"/>
            <a:ext cx="7064100" cy="441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dirty="0" smtClean="0">
                <a:solidFill>
                  <a:schemeClr val="dk1"/>
                </a:solidFill>
              </a:rPr>
              <a:t>DATE : 23-03-2024</a:t>
            </a:r>
            <a:endParaRPr dirty="0"/>
          </a:p>
        </p:txBody>
      </p:sp>
      <p:sp>
        <p:nvSpPr>
          <p:cNvPr id="2" name="Rectangle 1"/>
          <p:cNvSpPr/>
          <p:nvPr/>
        </p:nvSpPr>
        <p:spPr>
          <a:xfrm>
            <a:off x="5147498" y="3507861"/>
            <a:ext cx="3248358" cy="1169551"/>
          </a:xfrm>
          <a:prstGeom prst="rect">
            <a:avLst/>
          </a:prstGeom>
        </p:spPr>
        <p:txBody>
          <a:bodyPr wrap="square">
            <a:spAutoFit/>
          </a:bodyPr>
          <a:lstStyle/>
          <a:p>
            <a:pPr lvl="0" algn="ctr">
              <a:buClr>
                <a:schemeClr val="dk1"/>
              </a:buClr>
              <a:buSzPts val="1100"/>
            </a:pPr>
            <a:r>
              <a:rPr lang="en-US" dirty="0" smtClean="0">
                <a:latin typeface="Times New Roman" panose="02020603050405020304" pitchFamily="18" charset="0"/>
                <a:cs typeface="Times New Roman" panose="02020603050405020304" pitchFamily="18" charset="0"/>
              </a:rPr>
              <a:t>BATCH-NO-04</a:t>
            </a:r>
          </a:p>
          <a:p>
            <a:pPr lvl="0">
              <a:buClr>
                <a:schemeClr val="dk1"/>
              </a:buClr>
              <a:buSzPts val="1100"/>
            </a:pPr>
            <a:r>
              <a:rPr lang="en-US" dirty="0" smtClean="0">
                <a:latin typeface="Times New Roman" panose="02020603050405020304" pitchFamily="18" charset="0"/>
                <a:cs typeface="Times New Roman" panose="02020603050405020304" pitchFamily="18" charset="0"/>
              </a:rPr>
              <a:t>V. </a:t>
            </a:r>
            <a:r>
              <a:rPr lang="en-US" dirty="0" err="1">
                <a:latin typeface="Times New Roman" panose="02020603050405020304" pitchFamily="18" charset="0"/>
                <a:cs typeface="Times New Roman" panose="02020603050405020304" pitchFamily="18" charset="0"/>
              </a:rPr>
              <a:t>Gayatri</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2211CS030076</a:t>
            </a:r>
            <a:r>
              <a:rPr lang="en-US" dirty="0">
                <a:latin typeface="Times New Roman" panose="02020603050405020304" pitchFamily="18" charset="0"/>
                <a:cs typeface="Times New Roman" panose="02020603050405020304" pitchFamily="18" charset="0"/>
              </a:rPr>
              <a:t>)</a:t>
            </a:r>
          </a:p>
          <a:p>
            <a:pPr lvl="0">
              <a:buClr>
                <a:schemeClr val="dk1"/>
              </a:buClr>
              <a:buSzPts val="1100"/>
            </a:pPr>
            <a:r>
              <a:rPr lang="en-US" dirty="0">
                <a:latin typeface="Times New Roman" panose="02020603050405020304" pitchFamily="18" charset="0"/>
                <a:cs typeface="Times New Roman" panose="02020603050405020304" pitchFamily="18" charset="0"/>
              </a:rPr>
              <a:t>G . </a:t>
            </a:r>
            <a:r>
              <a:rPr lang="en-US" dirty="0" err="1">
                <a:latin typeface="Times New Roman" panose="02020603050405020304" pitchFamily="18" charset="0"/>
                <a:cs typeface="Times New Roman" panose="02020603050405020304" pitchFamily="18" charset="0"/>
              </a:rPr>
              <a:t>Sahithi</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2211CS030053</a:t>
            </a:r>
            <a:r>
              <a:rPr lang="en-US" dirty="0">
                <a:latin typeface="Times New Roman" panose="02020603050405020304" pitchFamily="18" charset="0"/>
                <a:cs typeface="Times New Roman" panose="02020603050405020304" pitchFamily="18" charset="0"/>
              </a:rPr>
              <a:t>)</a:t>
            </a:r>
          </a:p>
          <a:p>
            <a:pPr lvl="0">
              <a:buClr>
                <a:schemeClr val="dk1"/>
              </a:buClr>
              <a:buSzPts val="1100"/>
            </a:pPr>
            <a:r>
              <a:rPr lang="en-US" dirty="0" smtClean="0">
                <a:latin typeface="Times New Roman" panose="02020603050405020304" pitchFamily="18" charset="0"/>
                <a:cs typeface="Times New Roman" panose="02020603050405020304" pitchFamily="18" charset="0"/>
              </a:rPr>
              <a:t>D </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Tanuja</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2211CS030048</a:t>
            </a:r>
            <a:r>
              <a:rPr lang="en-US" dirty="0">
                <a:latin typeface="Times New Roman" panose="02020603050405020304" pitchFamily="18" charset="0"/>
                <a:cs typeface="Times New Roman" panose="02020603050405020304" pitchFamily="18" charset="0"/>
              </a:rPr>
              <a:t>)</a:t>
            </a:r>
          </a:p>
          <a:p>
            <a:pPr lvl="0">
              <a:buClr>
                <a:schemeClr val="dk1"/>
              </a:buClr>
              <a:buSzPts val="1100"/>
            </a:pPr>
            <a:r>
              <a:rPr lang="en-US" dirty="0" smtClean="0">
                <a:latin typeface="Times New Roman" panose="02020603050405020304" pitchFamily="18" charset="0"/>
                <a:cs typeface="Times New Roman" panose="02020603050405020304" pitchFamily="18" charset="0"/>
              </a:rPr>
              <a:t>B </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Priya</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2211CS030019</a:t>
            </a:r>
            <a:r>
              <a:rPr lang="en-US" dirty="0">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 calcmode="lin" valueType="num">
                                      <p:cBhvr additive="base">
                                        <p:cTn id="7" dur="1000"/>
                                        <p:tgtEl>
                                          <p:spTgt spid="482"/>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83"/>
                                        </p:tgtEl>
                                        <p:attrNameLst>
                                          <p:attrName>style.visibility</p:attrName>
                                        </p:attrNameLst>
                                      </p:cBhvr>
                                      <p:to>
                                        <p:strVal val="visible"/>
                                      </p:to>
                                    </p:set>
                                    <p:anim calcmode="lin" valueType="num">
                                      <p:cBhvr additive="base">
                                        <p:cTn id="10" dur="1000"/>
                                        <p:tgtEl>
                                          <p:spTgt spid="4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69"/>
          <p:cNvSpPr txBox="1">
            <a:spLocks noGrp="1"/>
          </p:cNvSpPr>
          <p:nvPr>
            <p:ph type="title"/>
          </p:nvPr>
        </p:nvSpPr>
        <p:spPr>
          <a:xfrm>
            <a:off x="358087" y="447951"/>
            <a:ext cx="5556738" cy="81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Introduction: </a:t>
            </a:r>
            <a:endParaRPr dirty="0"/>
          </a:p>
        </p:txBody>
      </p:sp>
      <p:sp>
        <p:nvSpPr>
          <p:cNvPr id="574" name="Google Shape;574;p69"/>
          <p:cNvSpPr txBox="1">
            <a:spLocks noGrp="1"/>
          </p:cNvSpPr>
          <p:nvPr>
            <p:ph type="subTitle" idx="1"/>
          </p:nvPr>
        </p:nvSpPr>
        <p:spPr>
          <a:xfrm>
            <a:off x="396452" y="1356578"/>
            <a:ext cx="8024979" cy="3253787"/>
          </a:xfrm>
          <a:prstGeom prst="rect">
            <a:avLst/>
          </a:prstGeom>
        </p:spPr>
        <p:txBody>
          <a:bodyPr spcFirstLastPara="1" wrap="square" lIns="91425" tIns="91425" rIns="91425" bIns="91425" anchor="t" anchorCtr="0">
            <a:noAutofit/>
          </a:bodyPr>
          <a:lstStyle/>
          <a:p>
            <a:pPr marL="0" lvl="0" indent="0" algn="just">
              <a:buClr>
                <a:schemeClr val="dk1"/>
              </a:buClr>
              <a:buSzPts val="1100"/>
            </a:pPr>
            <a:r>
              <a:rPr lang="en-US" sz="1600" dirty="0"/>
              <a:t>This analysis delves into the comparative evaluation of top universities worldwide, aiming to offer a comprehensive understanding of their academic prowess, research output, and global impact. By examining key metrics such as faculty quality, research citations, student-to-faculty ratios, and international diversity, this project seeks to elucidate the strengths and weaknesses of various institutions, aiding prospective students, educators, policymakers, and stakeholders in making informed decisions. Our research question focuses on identifying the factors contributing to the distinction of top-tier universities and their implications for higher education excellence. Utilizing a combination of data mining, statistical analysis, and literature review methodologies, we conducted an extensive examination of university rankings, scholarly publications, and institutional profiles to derive meaningful insights and conclusions.</a:t>
            </a:r>
            <a:endParaRPr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0"/>
          <p:cNvSpPr txBox="1">
            <a:spLocks noGrp="1"/>
          </p:cNvSpPr>
          <p:nvPr>
            <p:ph type="title"/>
          </p:nvPr>
        </p:nvSpPr>
        <p:spPr>
          <a:xfrm>
            <a:off x="165863" y="441614"/>
            <a:ext cx="5841041"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5000" dirty="0" smtClean="0"/>
              <a:t>Literature Review:</a:t>
            </a:r>
            <a:endParaRPr sz="5000" dirty="0"/>
          </a:p>
        </p:txBody>
      </p:sp>
      <p:sp>
        <p:nvSpPr>
          <p:cNvPr id="2" name="Text Placeholder 1"/>
          <p:cNvSpPr>
            <a:spLocks noGrp="1"/>
          </p:cNvSpPr>
          <p:nvPr>
            <p:ph type="body" idx="1"/>
          </p:nvPr>
        </p:nvSpPr>
        <p:spPr>
          <a:xfrm>
            <a:off x="103650" y="1303404"/>
            <a:ext cx="8743170" cy="3581015"/>
          </a:xfrm>
        </p:spPr>
        <p:txBody>
          <a:bodyPr/>
          <a:lstStyle/>
          <a:p>
            <a:pPr marL="114300" indent="0" algn="just">
              <a:buNone/>
            </a:pPr>
            <a:r>
              <a:rPr lang="en-US" sz="1600" b="1" dirty="0" smtClean="0"/>
              <a:t>1.Rankings </a:t>
            </a:r>
            <a:r>
              <a:rPr lang="en-US" sz="1600" b="1" dirty="0"/>
              <a:t>and Methodologies</a:t>
            </a:r>
            <a:r>
              <a:rPr lang="en-US" sz="1600" dirty="0"/>
              <a:t>: Several studies delve into the methodologies employed by ranking agencies such as QS, Times Higher Education, and Academic Ranking of World Universities (ARWU). They discuss the criteria used, including academic reputation, faculty-to-student ratio, research output, and internationalization efforts</a:t>
            </a:r>
            <a:r>
              <a:rPr lang="en-US" sz="1600" dirty="0" smtClean="0"/>
              <a:t>.</a:t>
            </a:r>
          </a:p>
          <a:p>
            <a:pPr marL="114300" indent="0" algn="just">
              <a:buNone/>
            </a:pPr>
            <a:r>
              <a:rPr lang="en-US" sz="1600" b="1" dirty="0" smtClean="0"/>
              <a:t>2.Impact </a:t>
            </a:r>
            <a:r>
              <a:rPr lang="en-US" sz="1600" b="1" dirty="0"/>
              <a:t>and Influence</a:t>
            </a:r>
            <a:r>
              <a:rPr lang="en-US" sz="1600" dirty="0"/>
              <a:t>: Another aspect examined is the impact and influence of </a:t>
            </a:r>
            <a:r>
              <a:rPr lang="en-US" sz="1600" dirty="0" smtClean="0"/>
              <a:t>top </a:t>
            </a:r>
            <a:r>
              <a:rPr lang="en-US" sz="1600" dirty="0"/>
              <a:t>universities on various stakeholders, including students, faculty, industry, and policymakers. These studies assess the role of prestigious universities in driving innovation, shaping public policy, and fostering economic growth</a:t>
            </a:r>
            <a:r>
              <a:rPr lang="en-US" dirty="0" smtClean="0"/>
              <a:t>.</a:t>
            </a:r>
          </a:p>
          <a:p>
            <a:pPr marL="114300" indent="0">
              <a:buNone/>
            </a:pPr>
            <a:r>
              <a:rPr lang="en-US" sz="1600" b="1" dirty="0" smtClean="0"/>
              <a:t>3.Limited </a:t>
            </a:r>
            <a:r>
              <a:rPr lang="en-US" sz="1600" b="1" dirty="0"/>
              <a:t>Focus</a:t>
            </a:r>
            <a:r>
              <a:rPr lang="en-US" sz="1600" dirty="0"/>
              <a:t>: Some studies tend to focus predominantly on specific ranking methodologies or regions, potentially overlooking nuances in the evaluation of universities on a global scale.</a:t>
            </a:r>
            <a:r>
              <a:rPr lang="en-US" sz="1600" dirty="0" smtClean="0"/>
              <a:t/>
            </a:r>
            <a:br>
              <a:rPr lang="en-US" sz="1600" dirty="0" smtClean="0"/>
            </a:br>
            <a:r>
              <a:rPr lang="en-US" dirty="0" smtClean="0"/>
              <a:t/>
            </a:r>
            <a:br>
              <a:rPr lang="en-US" dirty="0" smtClean="0"/>
            </a:b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5" name="Google Shape;535;p63"/>
          <p:cNvSpPr txBox="1">
            <a:spLocks noGrp="1"/>
          </p:cNvSpPr>
          <p:nvPr>
            <p:ph type="subTitle" idx="1"/>
          </p:nvPr>
        </p:nvSpPr>
        <p:spPr>
          <a:xfrm>
            <a:off x="312420" y="473242"/>
            <a:ext cx="8465820" cy="4327357"/>
          </a:xfrm>
          <a:prstGeom prst="rect">
            <a:avLst/>
          </a:prstGeom>
        </p:spPr>
        <p:txBody>
          <a:bodyPr spcFirstLastPara="1" wrap="square" lIns="91425" tIns="91425" rIns="91425" bIns="91425" anchor="t" anchorCtr="0">
            <a:noAutofit/>
          </a:bodyPr>
          <a:lstStyle/>
          <a:p>
            <a:pPr marL="0" lvl="0" indent="0" algn="just">
              <a:spcAft>
                <a:spcPts val="1200"/>
              </a:spcAft>
            </a:pPr>
            <a:r>
              <a:rPr lang="en-US" sz="1600" b="1" dirty="0" smtClean="0"/>
              <a:t>4.Globalization </a:t>
            </a:r>
            <a:r>
              <a:rPr lang="en-US" sz="1600" b="1" dirty="0"/>
              <a:t>and Diversity</a:t>
            </a:r>
            <a:r>
              <a:rPr lang="en-US" sz="1600" dirty="0"/>
              <a:t>: Some research focuses on the globalization trends within higher education and the efforts made by top universities to enhance diversity and inclusivity among their student and faculty populations. This includes analyzing international student enrollment, faculty diversity, and cross-cultural collaborations</a:t>
            </a:r>
            <a:r>
              <a:rPr lang="en-US" sz="1600" dirty="0" smtClean="0"/>
              <a:t>.</a:t>
            </a:r>
          </a:p>
          <a:p>
            <a:pPr marL="0" lvl="0" indent="0" algn="just">
              <a:spcAft>
                <a:spcPts val="1200"/>
              </a:spcAft>
            </a:pPr>
            <a:r>
              <a:rPr lang="en-US" sz="1600" b="1" dirty="0" smtClean="0"/>
              <a:t>5.Challenges </a:t>
            </a:r>
            <a:r>
              <a:rPr lang="en-US" sz="1600" b="1" dirty="0"/>
              <a:t>and Criticisms</a:t>
            </a:r>
            <a:r>
              <a:rPr lang="en-US" sz="1600" dirty="0"/>
              <a:t>: There are also critiques of university rankings, highlighting their limitations and biases. These criticisms include concerns about overreliance on reputation surveys, the neglect of certain disciplines or regional contexts, and the potential for rankings to perpetuate inequality among institutions</a:t>
            </a:r>
            <a:r>
              <a:rPr lang="en-US" sz="1600" dirty="0" smtClean="0"/>
              <a:t>.</a:t>
            </a:r>
          </a:p>
          <a:p>
            <a:pPr marL="0" lvl="0" indent="0" algn="just">
              <a:spcAft>
                <a:spcPts val="1200"/>
              </a:spcAft>
            </a:pPr>
            <a:r>
              <a:rPr lang="en-US" sz="1600" b="1" dirty="0" smtClean="0"/>
              <a:t>6.Underrepresentation </a:t>
            </a:r>
            <a:r>
              <a:rPr lang="en-US" sz="1600" b="1" dirty="0"/>
              <a:t>of Certain Perspectives: </a:t>
            </a:r>
            <a:r>
              <a:rPr lang="en-US" sz="1600" dirty="0"/>
              <a:t>The literature may not adequately capture the perspectives of all stakeholders involved in higher education, such as students from diverse backgrounds or faculty members in non-Western institutions.</a:t>
            </a:r>
            <a:endParaRPr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66"/>
          <p:cNvSpPr txBox="1">
            <a:spLocks noGrp="1"/>
          </p:cNvSpPr>
          <p:nvPr>
            <p:ph type="subTitle" idx="1"/>
          </p:nvPr>
        </p:nvSpPr>
        <p:spPr>
          <a:xfrm>
            <a:off x="0" y="1217180"/>
            <a:ext cx="9144000" cy="3552940"/>
          </a:xfrm>
          <a:prstGeom prst="rect">
            <a:avLst/>
          </a:prstGeom>
        </p:spPr>
        <p:txBody>
          <a:bodyPr spcFirstLastPara="1" wrap="square" lIns="91425" tIns="91425" rIns="91425" bIns="91425" anchor="t" anchorCtr="0">
            <a:noAutofit/>
          </a:bodyPr>
          <a:lstStyle/>
          <a:p>
            <a:pPr marL="114300" indent="0">
              <a:buNone/>
            </a:pPr>
            <a:r>
              <a:rPr lang="en-US" sz="1600" b="1" dirty="0" smtClean="0"/>
              <a:t>1. Sample </a:t>
            </a:r>
            <a:r>
              <a:rPr lang="en-US" sz="1600" b="1" dirty="0"/>
              <a:t>Selection</a:t>
            </a:r>
            <a:r>
              <a:rPr lang="en-US" sz="1600" dirty="0"/>
              <a:t>:</a:t>
            </a:r>
          </a:p>
          <a:p>
            <a:pPr marL="114300" indent="0" algn="just">
              <a:buNone/>
            </a:pPr>
            <a:r>
              <a:rPr lang="en-US" sz="1600" dirty="0"/>
              <a:t>We began by identifying a comprehensive list of top universities globally, utilizing established ranking systems such as QS, Times Higher Education, and </a:t>
            </a:r>
            <a:r>
              <a:rPr lang="en-US" sz="1600" dirty="0" smtClean="0"/>
              <a:t>ARWU. Our </a:t>
            </a:r>
            <a:r>
              <a:rPr lang="en-US" sz="1600" dirty="0"/>
              <a:t>sample comprises a diverse range of universities representing different geographic regions, academic disciplines, and institutional characteristics to ensure a holistic analysis</a:t>
            </a:r>
            <a:r>
              <a:rPr lang="en-US" sz="1600" dirty="0" smtClean="0"/>
              <a:t>.</a:t>
            </a:r>
          </a:p>
          <a:p>
            <a:pPr marL="114300" indent="0">
              <a:buNone/>
            </a:pPr>
            <a:endParaRPr lang="en-US" sz="1600" b="1" dirty="0" smtClean="0"/>
          </a:p>
          <a:p>
            <a:pPr marL="114300" indent="0">
              <a:buNone/>
            </a:pPr>
            <a:r>
              <a:rPr lang="en-US" sz="1600" b="1" dirty="0" smtClean="0"/>
              <a:t>2</a:t>
            </a:r>
            <a:r>
              <a:rPr lang="en-US" sz="1600" b="1" dirty="0"/>
              <a:t>. Data </a:t>
            </a:r>
            <a:r>
              <a:rPr lang="en-US" sz="1600" b="1" dirty="0" smtClean="0"/>
              <a:t>Collection</a:t>
            </a:r>
            <a:r>
              <a:rPr lang="en-US" sz="1600" dirty="0" smtClean="0"/>
              <a:t>:</a:t>
            </a:r>
          </a:p>
          <a:p>
            <a:pPr marL="114300" indent="0" algn="just">
              <a:buNone/>
            </a:pPr>
            <a:r>
              <a:rPr lang="en-US" sz="1600" dirty="0" smtClean="0"/>
              <a:t>We </a:t>
            </a:r>
            <a:r>
              <a:rPr lang="en-US" sz="1600" dirty="0"/>
              <a:t>collected data from multiple sources including official university websites, ranking reports, academic databases, and institutional </a:t>
            </a:r>
            <a:r>
              <a:rPr lang="en-US" sz="1600" dirty="0" smtClean="0"/>
              <a:t>repositories. Key </a:t>
            </a:r>
            <a:r>
              <a:rPr lang="en-US" sz="1600" dirty="0"/>
              <a:t>metrics obtained include faculty-to-student ratios, research publications, citation counts, international student enrollment, faculty diversity, and institutional </a:t>
            </a:r>
            <a:r>
              <a:rPr lang="en-US" sz="1600" dirty="0" smtClean="0"/>
              <a:t>budgets. Data  collection </a:t>
            </a:r>
            <a:r>
              <a:rPr lang="en-US" sz="1600" dirty="0"/>
              <a:t>was conducted systematically to ensure accuracy and consistency across all variables.</a:t>
            </a:r>
          </a:p>
          <a:p>
            <a:pPr marL="0" lvl="0" indent="0" algn="l" rtl="0">
              <a:spcBef>
                <a:spcPts val="0"/>
              </a:spcBef>
              <a:spcAft>
                <a:spcPts val="0"/>
              </a:spcAft>
              <a:buClr>
                <a:schemeClr val="dk1"/>
              </a:buClr>
              <a:buSzPts val="1100"/>
              <a:buFont typeface="Arial"/>
              <a:buNone/>
            </a:pPr>
            <a:endParaRPr sz="1600" dirty="0"/>
          </a:p>
        </p:txBody>
      </p:sp>
      <p:sp>
        <p:nvSpPr>
          <p:cNvPr id="554" name="Google Shape;554;p66"/>
          <p:cNvSpPr txBox="1">
            <a:spLocks noGrp="1"/>
          </p:cNvSpPr>
          <p:nvPr>
            <p:ph type="title"/>
          </p:nvPr>
        </p:nvSpPr>
        <p:spPr>
          <a:xfrm>
            <a:off x="93750" y="35358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5000" dirty="0" smtClean="0"/>
              <a:t>Methodology:</a:t>
            </a:r>
            <a:endParaRPr sz="5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553"/>
                                        </p:tgtEl>
                                        <p:attrNameLst>
                                          <p:attrName>style.visibility</p:attrName>
                                        </p:attrNameLst>
                                      </p:cBhvr>
                                      <p:to>
                                        <p:strVal val="visible"/>
                                      </p:to>
                                    </p:set>
                                    <p:anim calcmode="lin" valueType="num">
                                      <p:cBhvr additive="base">
                                        <p:cTn id="7" dur="1000"/>
                                        <p:tgtEl>
                                          <p:spTgt spid="553"/>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0"/>
                                  </p:stCondLst>
                                  <p:childTnLst>
                                    <p:set>
                                      <p:cBhvr>
                                        <p:cTn id="9" dur="1" fill="hold">
                                          <p:stCondLst>
                                            <p:cond delay="0"/>
                                          </p:stCondLst>
                                        </p:cTn>
                                        <p:tgtEl>
                                          <p:spTgt spid="554"/>
                                        </p:tgtEl>
                                        <p:attrNameLst>
                                          <p:attrName>style.visibility</p:attrName>
                                        </p:attrNameLst>
                                      </p:cBhvr>
                                      <p:to>
                                        <p:strVal val="visible"/>
                                      </p:to>
                                    </p:set>
                                    <p:anim calcmode="lin" valueType="num">
                                      <p:cBhvr additive="base">
                                        <p:cTn id="10" dur="1000"/>
                                        <p:tgtEl>
                                          <p:spTgt spid="5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8" name="Google Shape;588;p71"/>
          <p:cNvSpPr txBox="1"/>
          <p:nvPr/>
        </p:nvSpPr>
        <p:spPr>
          <a:xfrm>
            <a:off x="90181" y="266700"/>
            <a:ext cx="8848077" cy="4579620"/>
          </a:xfrm>
          <a:prstGeom prst="rect">
            <a:avLst/>
          </a:prstGeom>
          <a:noFill/>
          <a:ln>
            <a:noFill/>
          </a:ln>
        </p:spPr>
        <p:txBody>
          <a:bodyPr spcFirstLastPara="1" wrap="square" lIns="91425" tIns="91425" rIns="91425" bIns="91425" anchor="t" anchorCtr="0">
            <a:noAutofit/>
          </a:bodyPr>
          <a:lstStyle/>
          <a:p>
            <a:pPr algn="just"/>
            <a:r>
              <a:rPr lang="en-US" sz="1600" b="1" dirty="0">
                <a:latin typeface="Montserrat" charset="0"/>
              </a:rPr>
              <a:t>3. Data Processing and Cleaning</a:t>
            </a:r>
            <a:r>
              <a:rPr lang="en-US" sz="1600" dirty="0">
                <a:latin typeface="Montserrat" charset="0"/>
              </a:rPr>
              <a:t>:</a:t>
            </a:r>
          </a:p>
          <a:p>
            <a:pPr algn="just"/>
            <a:r>
              <a:rPr lang="en-US" sz="1600" dirty="0">
                <a:latin typeface="Montserrat" charset="0"/>
              </a:rPr>
              <a:t>Raw data underwent thorough processing and cleaning to address inconsistencies, missing values, and </a:t>
            </a:r>
            <a:r>
              <a:rPr lang="en-US" sz="1600" dirty="0" smtClean="0">
                <a:latin typeface="Montserrat" charset="0"/>
              </a:rPr>
              <a:t>outliers. Standardization </a:t>
            </a:r>
            <a:r>
              <a:rPr lang="en-US" sz="1600" dirty="0">
                <a:latin typeface="Montserrat" charset="0"/>
              </a:rPr>
              <a:t>techniques were applied to ensure comparability of data across different universities and datasets</a:t>
            </a:r>
            <a:r>
              <a:rPr lang="en-US" sz="1600" dirty="0" smtClean="0">
                <a:latin typeface="Montserrat" charset="0"/>
              </a:rPr>
              <a:t>.</a:t>
            </a:r>
          </a:p>
          <a:p>
            <a:pPr algn="just"/>
            <a:endParaRPr lang="en-US" sz="1600" b="1" dirty="0" smtClean="0">
              <a:latin typeface="Montserrat" charset="0"/>
            </a:endParaRPr>
          </a:p>
          <a:p>
            <a:pPr algn="just"/>
            <a:r>
              <a:rPr lang="en-US" sz="1600" b="1" dirty="0" smtClean="0">
                <a:latin typeface="Montserrat" charset="0"/>
              </a:rPr>
              <a:t>4</a:t>
            </a:r>
            <a:r>
              <a:rPr lang="en-US" sz="1600" b="1" dirty="0">
                <a:latin typeface="Montserrat" charset="0"/>
              </a:rPr>
              <a:t>. Analysis Techniques</a:t>
            </a:r>
            <a:r>
              <a:rPr lang="en-US" sz="1600" dirty="0">
                <a:latin typeface="Montserrat" charset="0"/>
              </a:rPr>
              <a:t>:</a:t>
            </a:r>
          </a:p>
          <a:p>
            <a:pPr algn="just"/>
            <a:r>
              <a:rPr lang="en-US" sz="1600" dirty="0">
                <a:latin typeface="Montserrat" charset="0"/>
              </a:rPr>
              <a:t>We employed a combination of descriptive statistics, inferential analysis, and data visualization techniques to analyze the collected </a:t>
            </a:r>
            <a:r>
              <a:rPr lang="en-US" sz="1600" dirty="0" smtClean="0">
                <a:latin typeface="Montserrat" charset="0"/>
              </a:rPr>
              <a:t>data. Descriptive </a:t>
            </a:r>
            <a:r>
              <a:rPr lang="en-US" sz="1600" dirty="0">
                <a:latin typeface="Montserrat" charset="0"/>
              </a:rPr>
              <a:t>statistics provided insights into the central tendencies and distributions of key </a:t>
            </a:r>
            <a:r>
              <a:rPr lang="en-US" sz="1600" dirty="0" smtClean="0">
                <a:latin typeface="Montserrat" charset="0"/>
              </a:rPr>
              <a:t>variables. Inferential </a:t>
            </a:r>
            <a:r>
              <a:rPr lang="en-US" sz="1600" dirty="0">
                <a:latin typeface="Montserrat" charset="0"/>
              </a:rPr>
              <a:t>analysis, such as correlation and regression analysis, was utilized to identify relationships and patterns among </a:t>
            </a:r>
            <a:r>
              <a:rPr lang="en-US" sz="1600" dirty="0" smtClean="0">
                <a:latin typeface="Montserrat" charset="0"/>
              </a:rPr>
              <a:t>variables. Data </a:t>
            </a:r>
            <a:r>
              <a:rPr lang="en-US" sz="1600" dirty="0">
                <a:latin typeface="Montserrat" charset="0"/>
              </a:rPr>
              <a:t>visualization tools, including charts, graphs, and </a:t>
            </a:r>
            <a:r>
              <a:rPr lang="en-US" sz="1600" dirty="0" smtClean="0">
                <a:latin typeface="Montserrat" charset="0"/>
              </a:rPr>
              <a:t>heat maps</a:t>
            </a:r>
            <a:r>
              <a:rPr lang="en-US" sz="1600" dirty="0">
                <a:latin typeface="Montserrat" charset="0"/>
              </a:rPr>
              <a:t>, were employed to visually represent the findings and enhance interpretability</a:t>
            </a:r>
            <a:r>
              <a:rPr lang="en-US" sz="1600" dirty="0" smtClean="0">
                <a:latin typeface="Montserrat" charset="0"/>
              </a:rPr>
              <a:t>.</a:t>
            </a:r>
          </a:p>
          <a:p>
            <a:endParaRPr lang="en-US" sz="1600" b="1" dirty="0" smtClean="0">
              <a:latin typeface="Montserrat" charset="0"/>
            </a:endParaRPr>
          </a:p>
          <a:p>
            <a:r>
              <a:rPr lang="en-US" sz="1600" b="1" dirty="0" smtClean="0">
                <a:latin typeface="Montserrat" charset="0"/>
              </a:rPr>
              <a:t>5</a:t>
            </a:r>
            <a:r>
              <a:rPr lang="en-US" sz="1600" b="1" dirty="0">
                <a:latin typeface="Montserrat" charset="0"/>
              </a:rPr>
              <a:t>. Interpretation and Conclusion</a:t>
            </a:r>
            <a:r>
              <a:rPr lang="en-US" sz="1600" dirty="0">
                <a:latin typeface="Montserrat" charset="0"/>
              </a:rPr>
              <a:t>:</a:t>
            </a:r>
          </a:p>
          <a:p>
            <a:r>
              <a:rPr lang="en-US" sz="1600" dirty="0">
                <a:latin typeface="Montserrat" charset="0"/>
              </a:rPr>
              <a:t>The results obtained from the analysis were interpreted in light of existing literature and theoretical </a:t>
            </a:r>
            <a:r>
              <a:rPr lang="en-US" sz="1600" dirty="0" smtClean="0">
                <a:latin typeface="Montserrat" charset="0"/>
              </a:rPr>
              <a:t>frameworks. We </a:t>
            </a:r>
            <a:r>
              <a:rPr lang="en-US" sz="1600" dirty="0">
                <a:latin typeface="Montserrat" charset="0"/>
              </a:rPr>
              <a:t>drew conclusions regarding the factors contributing to the distinction of top universities, their implications for higher education,</a:t>
            </a:r>
          </a:p>
          <a:p>
            <a:pPr algn="just"/>
            <a:endParaRPr lang="en-US" sz="1600" dirty="0">
              <a:latin typeface="Montserrat" charset="0"/>
            </a:endParaRPr>
          </a:p>
          <a:p>
            <a:endParaRPr lang="en-US" sz="1600" dirty="0">
              <a:latin typeface="Montserrat" charset="0"/>
            </a:endParaRPr>
          </a:p>
          <a:p>
            <a:pPr marL="0" lvl="0" indent="0" algn="l" rtl="0">
              <a:spcBef>
                <a:spcPts val="0"/>
              </a:spcBef>
              <a:spcAft>
                <a:spcPts val="0"/>
              </a:spcAft>
              <a:buNone/>
            </a:pPr>
            <a:endParaRPr dirty="0">
              <a:solidFill>
                <a:schemeClr val="dk2"/>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1196"/>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7"/>
        <p:cNvGrpSpPr/>
        <p:nvPr/>
      </p:nvGrpSpPr>
      <p:grpSpPr>
        <a:xfrm>
          <a:off x="0" y="0"/>
          <a:ext cx="0" cy="0"/>
          <a:chOff x="0" y="0"/>
          <a:chExt cx="0" cy="0"/>
        </a:xfrm>
      </p:grpSpPr>
      <p:sp>
        <p:nvSpPr>
          <p:cNvPr id="1878" name="Google Shape;1878;p128"/>
          <p:cNvSpPr txBox="1">
            <a:spLocks noGrp="1"/>
          </p:cNvSpPr>
          <p:nvPr>
            <p:ph type="subTitle" idx="1"/>
          </p:nvPr>
        </p:nvSpPr>
        <p:spPr>
          <a:xfrm>
            <a:off x="258680" y="1234930"/>
            <a:ext cx="1838100" cy="35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Photos</a:t>
            </a:r>
            <a:endParaRPr/>
          </a:p>
        </p:txBody>
      </p:sp>
      <p:sp>
        <p:nvSpPr>
          <p:cNvPr id="1880" name="Google Shape;1880;p128"/>
          <p:cNvSpPr txBox="1">
            <a:spLocks noGrp="1"/>
          </p:cNvSpPr>
          <p:nvPr>
            <p:ph type="title"/>
          </p:nvPr>
        </p:nvSpPr>
        <p:spPr>
          <a:xfrm>
            <a:off x="111245" y="307865"/>
            <a:ext cx="4297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5000" dirty="0" smtClean="0"/>
              <a:t>Discussion:</a:t>
            </a:r>
            <a:endParaRPr sz="5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67"/>
          <p:cNvSpPr txBox="1">
            <a:spLocks noGrp="1"/>
          </p:cNvSpPr>
          <p:nvPr>
            <p:ph type="title"/>
          </p:nvPr>
        </p:nvSpPr>
        <p:spPr>
          <a:xfrm>
            <a:off x="251460" y="294105"/>
            <a:ext cx="6745290" cy="129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5000" dirty="0" smtClean="0"/>
              <a:t>Conclusion:</a:t>
            </a:r>
            <a:endParaRPr sz="5000" dirty="0"/>
          </a:p>
        </p:txBody>
      </p:sp>
      <p:sp>
        <p:nvSpPr>
          <p:cNvPr id="560" name="Google Shape;560;p67"/>
          <p:cNvSpPr txBox="1">
            <a:spLocks noGrp="1"/>
          </p:cNvSpPr>
          <p:nvPr>
            <p:ph type="subTitle" idx="1"/>
          </p:nvPr>
        </p:nvSpPr>
        <p:spPr>
          <a:xfrm>
            <a:off x="173520" y="1189070"/>
            <a:ext cx="8772360" cy="3428650"/>
          </a:xfrm>
          <a:prstGeom prst="rect">
            <a:avLst/>
          </a:prstGeom>
        </p:spPr>
        <p:txBody>
          <a:bodyPr spcFirstLastPara="1" wrap="square" lIns="91425" tIns="91425" rIns="91425" bIns="91425" anchor="t" anchorCtr="0">
            <a:noAutofit/>
          </a:bodyPr>
          <a:lstStyle/>
          <a:p>
            <a:pPr marL="0" lvl="0" indent="0" algn="just"/>
            <a:r>
              <a:rPr lang="en-US" sz="1600" dirty="0"/>
              <a:t>In our presentation, we highlighted the findings of our comprehensive analysis on top universities worldwide, emphasizing key points that shed light on the factors contributing to their distinction. We reiterated the significance of our findings in providing valuable insights for prospective students, educators, policymakers, and stakeholders in navigating the landscape of higher education. By elucidating the strengths and weaknesses of various institutions through metrics such as faculty quality, research output, and international diversity, our research contributes to a deeper understanding of what defines excellence in academia. Furthermore, our analysis offers practical implications for university administrators and policymakers, guiding strategic decisions in areas such as faculty recruitment, research investment, and internationalization efforts. Ultimately, our research serves as a valuable resource for enhancing the quality and competitiveness of universities globally, thereby fostering innovation, collaboration, and societal impact in the real world.</a:t>
            </a:r>
            <a:endParaRPr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156810" y="1301000"/>
            <a:ext cx="8667150" cy="3194800"/>
          </a:xfrm>
          <a:prstGeom prst="rect">
            <a:avLst/>
          </a:prstGeom>
        </p:spPr>
        <p:txBody>
          <a:bodyPr spcFirstLastPara="1" wrap="square" lIns="91425" tIns="91425" rIns="91425" bIns="91425" anchor="t" anchorCtr="0">
            <a:noAutofit/>
          </a:bodyPr>
          <a:lstStyle/>
          <a:p>
            <a:r>
              <a:rPr lang="en-US" dirty="0"/>
              <a:t>QS World University Rankings. (</a:t>
            </a:r>
            <a:r>
              <a:rPr lang="en-US" dirty="0" err="1"/>
              <a:t>n.d.</a:t>
            </a:r>
            <a:r>
              <a:rPr lang="en-US" dirty="0"/>
              <a:t>). </a:t>
            </a:r>
            <a:r>
              <a:rPr lang="en-US" dirty="0" smtClean="0"/>
              <a:t>Retrieved from </a:t>
            </a:r>
            <a:r>
              <a:rPr lang="en-IN" dirty="0">
                <a:hlinkClick r:id="rId3"/>
              </a:rPr>
              <a:t>https://www.kaggle.com/datasets/mylesoneill/world-university-rankings</a:t>
            </a:r>
            <a:endParaRPr lang="en-IN" dirty="0"/>
          </a:p>
          <a:p>
            <a:endParaRPr lang="en-US" dirty="0" smtClean="0"/>
          </a:p>
          <a:p>
            <a:r>
              <a:rPr lang="en-US" dirty="0"/>
              <a:t>Smith, J. (Year). Title of the Article. Journal Name, Volume(Issue), Page Range.</a:t>
            </a:r>
          </a:p>
          <a:p>
            <a:endParaRPr lang="en-US" dirty="0" smtClean="0"/>
          </a:p>
          <a:p>
            <a:r>
              <a:rPr lang="en-US" dirty="0" smtClean="0"/>
              <a:t>Johnson</a:t>
            </a:r>
            <a:r>
              <a:rPr lang="en-US" dirty="0"/>
              <a:t>, A. (Year). Title of the Book. Publisher</a:t>
            </a:r>
            <a:r>
              <a:rPr lang="en-US" dirty="0" smtClean="0"/>
              <a:t>.</a:t>
            </a:r>
          </a:p>
          <a:p>
            <a:pPr marL="114300" indent="0">
              <a:buNone/>
            </a:pPr>
            <a:endParaRPr lang="en-US" dirty="0"/>
          </a:p>
          <a:p>
            <a:r>
              <a:rPr lang="en-IN" dirty="0"/>
              <a:t>McKinney, Wes. (2017). Python for Data Analysis: Data Wrangling with Pandas, </a:t>
            </a:r>
            <a:r>
              <a:rPr lang="en-IN" dirty="0" err="1"/>
              <a:t>NumPy</a:t>
            </a:r>
            <a:r>
              <a:rPr lang="en-IN" dirty="0"/>
              <a:t>, and </a:t>
            </a:r>
            <a:r>
              <a:rPr lang="en-IN" dirty="0" err="1"/>
              <a:t>IPython</a:t>
            </a:r>
            <a:r>
              <a:rPr lang="en-IN" dirty="0"/>
              <a:t>. O'Reilly Media</a:t>
            </a:r>
            <a:r>
              <a:rPr lang="en-IN" dirty="0" smtClean="0"/>
              <a:t>.</a:t>
            </a:r>
          </a:p>
          <a:p>
            <a:endParaRPr lang="en-IN" dirty="0"/>
          </a:p>
          <a:p>
            <a:r>
              <a:rPr lang="en-US" dirty="0"/>
              <a:t>Müller, Andreas C., &amp; Guido, Sarah. (2016). Introduction to Machine Learning with </a:t>
            </a:r>
            <a:endParaRPr lang="en-US" dirty="0" smtClean="0"/>
          </a:p>
          <a:p>
            <a:pPr marL="114300" indent="0">
              <a:buNone/>
            </a:pPr>
            <a:r>
              <a:rPr lang="en-US" dirty="0"/>
              <a:t> </a:t>
            </a:r>
            <a:r>
              <a:rPr lang="en-US" dirty="0" smtClean="0"/>
              <a:t>       Python</a:t>
            </a:r>
            <a:r>
              <a:rPr lang="en-US" dirty="0"/>
              <a:t>: A Guide for Data Scientists. O'Reilly Media.</a:t>
            </a:r>
            <a:endParaRPr lang="en-US" dirty="0" smtClean="0"/>
          </a:p>
        </p:txBody>
      </p:sp>
      <p:sp>
        <p:nvSpPr>
          <p:cNvPr id="547" name="Google Shape;547;p65"/>
          <p:cNvSpPr txBox="1">
            <a:spLocks noGrp="1"/>
          </p:cNvSpPr>
          <p:nvPr>
            <p:ph type="title"/>
          </p:nvPr>
        </p:nvSpPr>
        <p:spPr>
          <a:xfrm>
            <a:off x="80765" y="32310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5000" dirty="0" smtClean="0"/>
              <a:t>References:</a:t>
            </a:r>
            <a:endParaRPr sz="5000" dirty="0"/>
          </a:p>
        </p:txBody>
      </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TotalTime>
  <Words>991</Words>
  <Application>Microsoft Office PowerPoint</Application>
  <PresentationFormat>On-screen Show (16:9)</PresentationFormat>
  <Paragraphs>46</Paragraphs>
  <Slides>10</Slides>
  <Notes>10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vt:i4>
      </vt:variant>
    </vt:vector>
  </HeadingPairs>
  <TitlesOfParts>
    <vt:vector size="20" baseType="lpstr">
      <vt:lpstr>Arial</vt:lpstr>
      <vt:lpstr>Lato</vt:lpstr>
      <vt:lpstr>Proxima Nova Semibold</vt:lpstr>
      <vt:lpstr>Crimson Text</vt:lpstr>
      <vt:lpstr>Montserrat</vt:lpstr>
      <vt:lpstr>Times New Roman</vt:lpstr>
      <vt:lpstr>Proxima Nova</vt:lpstr>
      <vt:lpstr>Vidaloka</vt:lpstr>
      <vt:lpstr>Minimalist Business Slides XL by Slidesgo</vt:lpstr>
      <vt:lpstr>Slidesgo Final Pages</vt:lpstr>
      <vt:lpstr>Top University Analysis</vt:lpstr>
      <vt:lpstr>Introduction: </vt:lpstr>
      <vt:lpstr>Literature Review:</vt:lpstr>
      <vt:lpstr>PowerPoint Presentation</vt:lpstr>
      <vt:lpstr>Methodology:</vt:lpstr>
      <vt:lpstr>PowerPoint Presentation</vt:lpstr>
      <vt:lpstr>PowerPoint Presentation</vt:lpstr>
      <vt:lpstr>Discussion:</vt:lpstr>
      <vt:lpstr>Conclusion:</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University Analysis</dc:title>
  <dc:creator>Siva Rama Krishna Gajjala</dc:creator>
  <cp:lastModifiedBy>Siva Rama Krishna Gajjala</cp:lastModifiedBy>
  <cp:revision>13</cp:revision>
  <dcterms:modified xsi:type="dcterms:W3CDTF">2024-03-31T16:39:11Z</dcterms:modified>
</cp:coreProperties>
</file>